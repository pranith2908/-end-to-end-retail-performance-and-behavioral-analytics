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1" r:id="rId3"/>
    <p:sldId id="257" r:id="rId4"/>
    <p:sldId id="262" r:id="rId5"/>
    <p:sldId id="258" r:id="rId6"/>
    <p:sldId id="259" r:id="rId7"/>
    <p:sldId id="260"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244E8E-81C8-4F54-8FAB-A9CD399DA39A}" v="3" dt="2026-03-03T10:10:17.1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86" d="100"/>
          <a:sy n="86" d="100"/>
        </p:scale>
        <p:origin x="138" y="-7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ithreddy Kasireddy" userId="019c6c71fbb379fc" providerId="LiveId" clId="{E59972E7-DB82-4562-9EDB-5923210EB240}"/>
    <pc:docChg chg="undo custSel addSld delSld modSld modMainMaster">
      <pc:chgData name="Pranithreddy Kasireddy" userId="019c6c71fbb379fc" providerId="LiveId" clId="{E59972E7-DB82-4562-9EDB-5923210EB240}" dt="2026-03-03T10:10:17.132" v="11" actId="1076"/>
      <pc:docMkLst>
        <pc:docMk/>
      </pc:docMkLst>
      <pc:sldChg chg="modSp">
        <pc:chgData name="Pranithreddy Kasireddy" userId="019c6c71fbb379fc" providerId="LiveId" clId="{E59972E7-DB82-4562-9EDB-5923210EB240}" dt="2026-03-03T10:08:34.692" v="7"/>
        <pc:sldMkLst>
          <pc:docMk/>
          <pc:sldMk cId="2454826964" sldId="256"/>
        </pc:sldMkLst>
        <pc:spChg chg="mod">
          <ac:chgData name="Pranithreddy Kasireddy" userId="019c6c71fbb379fc" providerId="LiveId" clId="{E59972E7-DB82-4562-9EDB-5923210EB240}" dt="2026-03-03T10:08:34.692" v="7"/>
          <ac:spMkLst>
            <pc:docMk/>
            <pc:sldMk cId="2454826964" sldId="256"/>
            <ac:spMk id="3" creationId="{5F6ACC4A-366A-2FFD-1760-26672EF72980}"/>
          </ac:spMkLst>
        </pc:spChg>
      </pc:sldChg>
      <pc:sldChg chg="modSp mod">
        <pc:chgData name="Pranithreddy Kasireddy" userId="019c6c71fbb379fc" providerId="LiveId" clId="{E59972E7-DB82-4562-9EDB-5923210EB240}" dt="2026-03-03T10:10:10.791" v="10" actId="1076"/>
        <pc:sldMkLst>
          <pc:docMk/>
          <pc:sldMk cId="4164678139" sldId="258"/>
        </pc:sldMkLst>
        <pc:picChg chg="mod">
          <ac:chgData name="Pranithreddy Kasireddy" userId="019c6c71fbb379fc" providerId="LiveId" clId="{E59972E7-DB82-4562-9EDB-5923210EB240}" dt="2026-03-03T10:10:10.791" v="10" actId="1076"/>
          <ac:picMkLst>
            <pc:docMk/>
            <pc:sldMk cId="4164678139" sldId="258"/>
            <ac:picMk id="14" creationId="{5961F8F1-635C-EFF8-6A11-09E9FA5A1D3E}"/>
          </ac:picMkLst>
        </pc:picChg>
      </pc:sldChg>
      <pc:sldChg chg="modSp">
        <pc:chgData name="Pranithreddy Kasireddy" userId="019c6c71fbb379fc" providerId="LiveId" clId="{E59972E7-DB82-4562-9EDB-5923210EB240}" dt="2026-03-03T10:10:17.132" v="11" actId="1076"/>
        <pc:sldMkLst>
          <pc:docMk/>
          <pc:sldMk cId="3750638231" sldId="259"/>
        </pc:sldMkLst>
        <pc:picChg chg="mod">
          <ac:chgData name="Pranithreddy Kasireddy" userId="019c6c71fbb379fc" providerId="LiveId" clId="{E59972E7-DB82-4562-9EDB-5923210EB240}" dt="2026-03-03T10:10:17.132" v="11" actId="1076"/>
          <ac:picMkLst>
            <pc:docMk/>
            <pc:sldMk cId="3750638231" sldId="259"/>
            <ac:picMk id="1028" creationId="{77159EED-CB27-1DDC-251C-699A5534A496}"/>
          </ac:picMkLst>
        </pc:picChg>
      </pc:sldChg>
      <pc:sldChg chg="modSp">
        <pc:chgData name="Pranithreddy Kasireddy" userId="019c6c71fbb379fc" providerId="LiveId" clId="{E59972E7-DB82-4562-9EDB-5923210EB240}" dt="2026-03-03T10:08:34.692" v="7"/>
        <pc:sldMkLst>
          <pc:docMk/>
          <pc:sldMk cId="3633003623" sldId="265"/>
        </pc:sldMkLst>
        <pc:picChg chg="mod">
          <ac:chgData name="Pranithreddy Kasireddy" userId="019c6c71fbb379fc" providerId="LiveId" clId="{E59972E7-DB82-4562-9EDB-5923210EB240}" dt="2026-03-03T10:08:34.692" v="7"/>
          <ac:picMkLst>
            <pc:docMk/>
            <pc:sldMk cId="3633003623" sldId="265"/>
            <ac:picMk id="10" creationId="{94A17D9A-E3AA-57D2-B0B1-074085BCD4DD}"/>
          </ac:picMkLst>
        </pc:picChg>
      </pc:sldChg>
      <pc:sldChg chg="modSp mod">
        <pc:chgData name="Pranithreddy Kasireddy" userId="019c6c71fbb379fc" providerId="LiveId" clId="{E59972E7-DB82-4562-9EDB-5923210EB240}" dt="2026-03-03T10:08:34.692" v="7"/>
        <pc:sldMkLst>
          <pc:docMk/>
          <pc:sldMk cId="2425432518" sldId="266"/>
        </pc:sldMkLst>
        <pc:spChg chg="mod">
          <ac:chgData name="Pranithreddy Kasireddy" userId="019c6c71fbb379fc" providerId="LiveId" clId="{E59972E7-DB82-4562-9EDB-5923210EB240}" dt="2026-03-03T10:08:34.692" v="7"/>
          <ac:spMkLst>
            <pc:docMk/>
            <pc:sldMk cId="2425432518" sldId="266"/>
            <ac:spMk id="4" creationId="{0848F421-DEF8-BAB6-2063-5201E7CEC519}"/>
          </ac:spMkLst>
        </pc:spChg>
        <pc:picChg chg="mod">
          <ac:chgData name="Pranithreddy Kasireddy" userId="019c6c71fbb379fc" providerId="LiveId" clId="{E59972E7-DB82-4562-9EDB-5923210EB240}" dt="2026-03-03T10:08:34.692" v="7"/>
          <ac:picMkLst>
            <pc:docMk/>
            <pc:sldMk cId="2425432518" sldId="266"/>
            <ac:picMk id="6" creationId="{6293AB80-748D-2D6A-AD57-A122D1BC0DDD}"/>
          </ac:picMkLst>
        </pc:picChg>
      </pc:sldChg>
      <pc:sldChg chg="modSp mod">
        <pc:chgData name="Pranithreddy Kasireddy" userId="019c6c71fbb379fc" providerId="LiveId" clId="{E59972E7-DB82-4562-9EDB-5923210EB240}" dt="2026-03-03T10:08:34.692" v="7"/>
        <pc:sldMkLst>
          <pc:docMk/>
          <pc:sldMk cId="878617395" sldId="267"/>
        </pc:sldMkLst>
        <pc:spChg chg="mod">
          <ac:chgData name="Pranithreddy Kasireddy" userId="019c6c71fbb379fc" providerId="LiveId" clId="{E59972E7-DB82-4562-9EDB-5923210EB240}" dt="2026-03-03T10:08:34.692" v="7"/>
          <ac:spMkLst>
            <pc:docMk/>
            <pc:sldMk cId="878617395" sldId="267"/>
            <ac:spMk id="4" creationId="{8A30A675-9F8A-786E-4DDB-4CD1C6AB7DCD}"/>
          </ac:spMkLst>
        </pc:spChg>
        <pc:picChg chg="mod">
          <ac:chgData name="Pranithreddy Kasireddy" userId="019c6c71fbb379fc" providerId="LiveId" clId="{E59972E7-DB82-4562-9EDB-5923210EB240}" dt="2026-03-03T10:08:34.692" v="7"/>
          <ac:picMkLst>
            <pc:docMk/>
            <pc:sldMk cId="878617395" sldId="267"/>
            <ac:picMk id="6" creationId="{CDA7C24D-3B22-7590-A22B-A90B2D159BBA}"/>
          </ac:picMkLst>
        </pc:picChg>
      </pc:sldChg>
      <pc:sldChg chg="modSp mod">
        <pc:chgData name="Pranithreddy Kasireddy" userId="019c6c71fbb379fc" providerId="LiveId" clId="{E59972E7-DB82-4562-9EDB-5923210EB240}" dt="2026-03-03T10:08:34.692" v="7"/>
        <pc:sldMkLst>
          <pc:docMk/>
          <pc:sldMk cId="2720985419" sldId="268"/>
        </pc:sldMkLst>
        <pc:spChg chg="mod">
          <ac:chgData name="Pranithreddy Kasireddy" userId="019c6c71fbb379fc" providerId="LiveId" clId="{E59972E7-DB82-4562-9EDB-5923210EB240}" dt="2026-03-03T10:08:34.692" v="7"/>
          <ac:spMkLst>
            <pc:docMk/>
            <pc:sldMk cId="2720985419" sldId="268"/>
            <ac:spMk id="4" creationId="{91A45982-4E44-BE18-0A02-0497DCF0C707}"/>
          </ac:spMkLst>
        </pc:spChg>
        <pc:picChg chg="mod">
          <ac:chgData name="Pranithreddy Kasireddy" userId="019c6c71fbb379fc" providerId="LiveId" clId="{E59972E7-DB82-4562-9EDB-5923210EB240}" dt="2026-03-03T10:08:34.692" v="7"/>
          <ac:picMkLst>
            <pc:docMk/>
            <pc:sldMk cId="2720985419" sldId="268"/>
            <ac:picMk id="6" creationId="{86B74C62-0A80-51F2-0B4E-D28037069014}"/>
          </ac:picMkLst>
        </pc:picChg>
      </pc:sldChg>
      <pc:sldChg chg="modSp mod">
        <pc:chgData name="Pranithreddy Kasireddy" userId="019c6c71fbb379fc" providerId="LiveId" clId="{E59972E7-DB82-4562-9EDB-5923210EB240}" dt="2026-03-03T10:08:34.692" v="7"/>
        <pc:sldMkLst>
          <pc:docMk/>
          <pc:sldMk cId="3207799088" sldId="269"/>
        </pc:sldMkLst>
        <pc:spChg chg="mod">
          <ac:chgData name="Pranithreddy Kasireddy" userId="019c6c71fbb379fc" providerId="LiveId" clId="{E59972E7-DB82-4562-9EDB-5923210EB240}" dt="2026-03-03T10:08:34.692" v="7"/>
          <ac:spMkLst>
            <pc:docMk/>
            <pc:sldMk cId="3207799088" sldId="269"/>
            <ac:spMk id="4" creationId="{C7300228-F721-4ABE-C02B-435DB5A81252}"/>
          </ac:spMkLst>
        </pc:spChg>
        <pc:picChg chg="mod">
          <ac:chgData name="Pranithreddy Kasireddy" userId="019c6c71fbb379fc" providerId="LiveId" clId="{E59972E7-DB82-4562-9EDB-5923210EB240}" dt="2026-03-03T10:08:34.692" v="7"/>
          <ac:picMkLst>
            <pc:docMk/>
            <pc:sldMk cId="3207799088" sldId="269"/>
            <ac:picMk id="6" creationId="{D38F6D6D-55DD-86D0-971D-CB6EEE431177}"/>
          </ac:picMkLst>
        </pc:picChg>
      </pc:sldChg>
      <pc:sldChg chg="modSp mod">
        <pc:chgData name="Pranithreddy Kasireddy" userId="019c6c71fbb379fc" providerId="LiveId" clId="{E59972E7-DB82-4562-9EDB-5923210EB240}" dt="2026-03-03T10:08:34.692" v="7"/>
        <pc:sldMkLst>
          <pc:docMk/>
          <pc:sldMk cId="923289534" sldId="270"/>
        </pc:sldMkLst>
        <pc:spChg chg="mod">
          <ac:chgData name="Pranithreddy Kasireddy" userId="019c6c71fbb379fc" providerId="LiveId" clId="{E59972E7-DB82-4562-9EDB-5923210EB240}" dt="2026-03-03T10:08:34.692" v="7"/>
          <ac:spMkLst>
            <pc:docMk/>
            <pc:sldMk cId="923289534" sldId="270"/>
            <ac:spMk id="4" creationId="{085D1635-B3E7-834B-3BC0-BC642F0E3CF8}"/>
          </ac:spMkLst>
        </pc:spChg>
        <pc:picChg chg="mod">
          <ac:chgData name="Pranithreddy Kasireddy" userId="019c6c71fbb379fc" providerId="LiveId" clId="{E59972E7-DB82-4562-9EDB-5923210EB240}" dt="2026-03-03T10:08:34.692" v="7"/>
          <ac:picMkLst>
            <pc:docMk/>
            <pc:sldMk cId="923289534" sldId="270"/>
            <ac:picMk id="6" creationId="{8D9F3332-932D-CC0A-A071-78B4C6EF42C3}"/>
          </ac:picMkLst>
        </pc:picChg>
      </pc:sldChg>
      <pc:sldChg chg="new del">
        <pc:chgData name="Pranithreddy Kasireddy" userId="019c6c71fbb379fc" providerId="LiveId" clId="{E59972E7-DB82-4562-9EDB-5923210EB240}" dt="2026-03-03T10:09:41.093" v="9" actId="680"/>
        <pc:sldMkLst>
          <pc:docMk/>
          <pc:sldMk cId="2009905480" sldId="273"/>
        </pc:sldMkLst>
      </pc:sldChg>
      <pc:sldMasterChg chg="modSldLayout">
        <pc:chgData name="Pranithreddy Kasireddy" userId="019c6c71fbb379fc" providerId="LiveId" clId="{E59972E7-DB82-4562-9EDB-5923210EB240}" dt="2026-03-03T10:08:34.692" v="7"/>
        <pc:sldMasterMkLst>
          <pc:docMk/>
          <pc:sldMasterMk cId="1144309551" sldId="2147483669"/>
        </pc:sldMasterMkLst>
        <pc:sldLayoutChg chg="addSp delSp">
          <pc:chgData name="Pranithreddy Kasireddy" userId="019c6c71fbb379fc" providerId="LiveId" clId="{E59972E7-DB82-4562-9EDB-5923210EB240}" dt="2026-03-03T10:08:34.692" v="7"/>
          <pc:sldLayoutMkLst>
            <pc:docMk/>
            <pc:sldMasterMk cId="1144309551" sldId="2147483669"/>
            <pc:sldLayoutMk cId="1327376687" sldId="2147483687"/>
          </pc:sldLayoutMkLst>
          <pc:picChg chg="add del">
            <ac:chgData name="Pranithreddy Kasireddy" userId="019c6c71fbb379fc" providerId="LiveId" clId="{E59972E7-DB82-4562-9EDB-5923210EB240}" dt="2026-03-03T10:08:34.692" v="7"/>
            <ac:picMkLst>
              <pc:docMk/>
              <pc:sldMasterMk cId="1144309551" sldId="2147483669"/>
              <pc:sldLayoutMk cId="1327376687" sldId="2147483687"/>
              <ac:picMk id="7" creationId="{00000000-0000-0000-0000-000000000000}"/>
            </ac:picMkLst>
          </pc:pic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3/3/2026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DE105-9DC7-AB2A-8703-BEE73EF0F13C}"/>
              </a:ext>
            </a:extLst>
          </p:cNvPr>
          <p:cNvSpPr>
            <a:spLocks noGrp="1"/>
          </p:cNvSpPr>
          <p:nvPr>
            <p:ph type="ctrTitle"/>
          </p:nvPr>
        </p:nvSpPr>
        <p:spPr>
          <a:xfrm>
            <a:off x="809469" y="1964267"/>
            <a:ext cx="10350656" cy="2421464"/>
          </a:xfrm>
        </p:spPr>
        <p:txBody>
          <a:bodyPr/>
          <a:lstStyle/>
          <a:p>
            <a:pPr algn="ctr"/>
            <a:r>
              <a:rPr lang="en-US" b="1" dirty="0">
                <a:latin typeface="Times New Roman" panose="02020603050405020304" pitchFamily="18" charset="0"/>
                <a:cs typeface="Times New Roman" panose="02020603050405020304" pitchFamily="18" charset="0"/>
              </a:rPr>
              <a:t>End-to-End Retail Performance and Behavioral Analytics </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F6ACC4A-366A-2FFD-1760-26672EF72980}"/>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Presented by:</a:t>
            </a:r>
          </a:p>
          <a:p>
            <a:r>
              <a:rPr lang="en-US" dirty="0" err="1">
                <a:latin typeface="Times New Roman" panose="02020603050405020304" pitchFamily="18" charset="0"/>
                <a:cs typeface="Times New Roman" panose="02020603050405020304" pitchFamily="18" charset="0"/>
              </a:rPr>
              <a:t>k.Pranith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reddy</a:t>
            </a:r>
            <a:endParaRPr lang="en-US" dirty="0">
              <a:latin typeface="Times New Roman" panose="02020603050405020304" pitchFamily="18" charset="0"/>
              <a:cs typeface="Times New Roman" panose="02020603050405020304" pitchFamily="18" charset="0"/>
            </a:endParaRPr>
          </a:p>
          <a:p>
            <a:endParaRPr lang="en-US" dirty="0"/>
          </a:p>
          <a:p>
            <a:endParaRPr lang="en-IN" dirty="0"/>
          </a:p>
        </p:txBody>
      </p:sp>
    </p:spTree>
    <p:extLst>
      <p:ext uri="{BB962C8B-B14F-4D97-AF65-F5344CB8AC3E}">
        <p14:creationId xmlns:p14="http://schemas.microsoft.com/office/powerpoint/2010/main" val="2454826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E326-7EE6-E348-C4F4-A8E132C91A90}"/>
              </a:ext>
            </a:extLst>
          </p:cNvPr>
          <p:cNvSpPr>
            <a:spLocks noGrp="1"/>
          </p:cNvSpPr>
          <p:nvPr>
            <p:ph type="title"/>
          </p:nvPr>
        </p:nvSpPr>
        <p:spPr>
          <a:xfrm>
            <a:off x="685801" y="609602"/>
            <a:ext cx="10131427" cy="1944912"/>
          </a:xfrm>
        </p:spPr>
        <p:txBody>
          <a:bodyPr/>
          <a:lstStyle/>
          <a:p>
            <a:r>
              <a:rPr lang="en-US" b="1" dirty="0">
                <a:latin typeface="Times New Roman" panose="02020603050405020304" pitchFamily="18" charset="0"/>
                <a:cs typeface="Times New Roman" panose="02020603050405020304" pitchFamily="18" charset="0"/>
              </a:rPr>
              <a:t>Abstract:</a:t>
            </a:r>
            <a:br>
              <a:rPr lang="en-IN" dirty="0"/>
            </a:br>
            <a:endParaRPr lang="en-IN" dirty="0"/>
          </a:p>
        </p:txBody>
      </p:sp>
      <p:sp>
        <p:nvSpPr>
          <p:cNvPr id="3" name="Text Placeholder 2">
            <a:extLst>
              <a:ext uri="{FF2B5EF4-FFF2-40B4-BE49-F238E27FC236}">
                <a16:creationId xmlns:a16="http://schemas.microsoft.com/office/drawing/2014/main" id="{D380FFB7-4D25-B0EC-5C97-C7D96E780B40}"/>
              </a:ext>
            </a:extLst>
          </p:cNvPr>
          <p:cNvSpPr>
            <a:spLocks noGrp="1"/>
          </p:cNvSpPr>
          <p:nvPr>
            <p:ph type="body" idx="1"/>
          </p:nvPr>
        </p:nvSpPr>
        <p:spPr>
          <a:xfrm>
            <a:off x="685800" y="754743"/>
            <a:ext cx="10131428" cy="5036458"/>
          </a:xfrm>
        </p:spPr>
        <p:txBody>
          <a:bodyPr>
            <a:normAutofit/>
          </a:bodyPr>
          <a:lstStyle/>
          <a:p>
            <a:r>
              <a:rPr lang="en-IN" dirty="0">
                <a:latin typeface="Times New Roman" panose="02020603050405020304" pitchFamily="18" charset="0"/>
                <a:cs typeface="Times New Roman" panose="02020603050405020304" pitchFamily="18" charset="0"/>
              </a:rPr>
              <a:t>This project, titled </a:t>
            </a:r>
            <a:r>
              <a:rPr lang="en-IN" b="1" dirty="0">
                <a:latin typeface="Times New Roman" panose="02020603050405020304" pitchFamily="18" charset="0"/>
                <a:cs typeface="Times New Roman" panose="02020603050405020304" pitchFamily="18" charset="0"/>
              </a:rPr>
              <a:t>‘‘End-to-End Retail Performance and </a:t>
            </a:r>
            <a:r>
              <a:rPr lang="en-IN" b="1" dirty="0" err="1">
                <a:latin typeface="Times New Roman" panose="02020603050405020304" pitchFamily="18" charset="0"/>
                <a:cs typeface="Times New Roman" panose="02020603050405020304" pitchFamily="18" charset="0"/>
              </a:rPr>
              <a:t>Behavioral</a:t>
            </a:r>
            <a:r>
              <a:rPr lang="en-IN" b="1" dirty="0">
                <a:latin typeface="Times New Roman" panose="02020603050405020304" pitchFamily="18" charset="0"/>
                <a:cs typeface="Times New Roman" panose="02020603050405020304" pitchFamily="18" charset="0"/>
              </a:rPr>
              <a:t> Analytics,, </a:t>
            </a:r>
            <a:r>
              <a:rPr lang="en-IN" dirty="0">
                <a:latin typeface="Times New Roman" panose="02020603050405020304" pitchFamily="18" charset="0"/>
                <a:cs typeface="Times New Roman" panose="02020603050405020304" pitchFamily="18" charset="0"/>
              </a:rPr>
              <a:t>This project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the retail performance and customer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of Retail Nova Inc., a mid-sized retail and e-commerce company. The objective is to identify sales trends, customer insights, product performance, store profitability, and return patterns using data analytics.</a:t>
            </a:r>
          </a:p>
          <a:p>
            <a:r>
              <a:rPr lang="en-IN" dirty="0">
                <a:latin typeface="Times New Roman" panose="02020603050405020304" pitchFamily="18" charset="0"/>
                <a:cs typeface="Times New Roman" panose="02020603050405020304" pitchFamily="18" charset="0"/>
              </a:rPr>
              <a:t>The project includes data cleaning and exploratory analysis in Python, business metric calculations using SQL, and interactive dashboard creation in Power BI or Tableau. The findings support data-driven decision-making to improve profitability, optimize inventory, reduce returns, and enhance overall business performance.</a:t>
            </a:r>
          </a:p>
          <a:p>
            <a:endParaRPr lang="en-IN" dirty="0"/>
          </a:p>
        </p:txBody>
      </p:sp>
    </p:spTree>
    <p:extLst>
      <p:ext uri="{BB962C8B-B14F-4D97-AF65-F5344CB8AC3E}">
        <p14:creationId xmlns:p14="http://schemas.microsoft.com/office/powerpoint/2010/main" val="4214275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6EB96-2230-C6FF-7583-3667D856EE20}"/>
              </a:ext>
            </a:extLst>
          </p:cNvPr>
          <p:cNvSpPr>
            <a:spLocks noGrp="1"/>
          </p:cNvSpPr>
          <p:nvPr>
            <p:ph type="title"/>
          </p:nvPr>
        </p:nvSpPr>
        <p:spPr>
          <a:xfrm>
            <a:off x="685801" y="609601"/>
            <a:ext cx="10131427" cy="1447801"/>
          </a:xfrm>
        </p:spPr>
        <p:txBody>
          <a:bodyPr>
            <a:normAutofit/>
          </a:bodyPr>
          <a:lstStyle/>
          <a:p>
            <a:r>
              <a:rPr lang="en-IN" b="1" dirty="0">
                <a:latin typeface="Times New Roman" panose="02020603050405020304" pitchFamily="18" charset="0"/>
                <a:cs typeface="Times New Roman" panose="02020603050405020304" pitchFamily="18" charset="0"/>
              </a:rPr>
              <a:t>Project Overview</a:t>
            </a:r>
          </a:p>
        </p:txBody>
      </p:sp>
      <p:sp>
        <p:nvSpPr>
          <p:cNvPr id="3" name="Text Placeholder 2">
            <a:extLst>
              <a:ext uri="{FF2B5EF4-FFF2-40B4-BE49-F238E27FC236}">
                <a16:creationId xmlns:a16="http://schemas.microsoft.com/office/drawing/2014/main" id="{EC58B0B4-3C7B-176A-A3DF-7023A7483CC1}"/>
              </a:ext>
            </a:extLst>
          </p:cNvPr>
          <p:cNvSpPr>
            <a:spLocks noGrp="1"/>
          </p:cNvSpPr>
          <p:nvPr>
            <p:ph type="body" idx="1"/>
          </p:nvPr>
        </p:nvSpPr>
        <p:spPr>
          <a:xfrm>
            <a:off x="685801" y="1635583"/>
            <a:ext cx="5540829" cy="2596839"/>
          </a:xfrm>
        </p:spPr>
        <p:txBody>
          <a:bodyPr>
            <a:normAutofit/>
          </a:bodyPr>
          <a:lstStyle/>
          <a:p>
            <a:r>
              <a:rPr lang="en-US" dirty="0">
                <a:latin typeface="Times New Roman" panose="02020603050405020304" pitchFamily="18" charset="0"/>
                <a:cs typeface="Times New Roman" panose="02020603050405020304" pitchFamily="18" charset="0"/>
              </a:rPr>
              <a:t>• End-to-end retail analytics project</a:t>
            </a:r>
          </a:p>
          <a:p>
            <a:r>
              <a:rPr lang="en-US" dirty="0">
                <a:latin typeface="Times New Roman" panose="02020603050405020304" pitchFamily="18" charset="0"/>
                <a:cs typeface="Times New Roman" panose="02020603050405020304" pitchFamily="18" charset="0"/>
              </a:rPr>
              <a:t>• Sales, Customers, Products, Stores, Returns</a:t>
            </a:r>
          </a:p>
          <a:p>
            <a:r>
              <a:rPr lang="en-US" dirty="0">
                <a:latin typeface="Times New Roman" panose="02020603050405020304" pitchFamily="18" charset="0"/>
                <a:cs typeface="Times New Roman" panose="02020603050405020304" pitchFamily="18" charset="0"/>
              </a:rPr>
              <a:t>• Goal: Business insights using data</a:t>
            </a:r>
          </a:p>
          <a:p>
            <a:r>
              <a:rPr lang="en-US" dirty="0">
                <a:latin typeface="Times New Roman" panose="02020603050405020304" pitchFamily="18" charset="0"/>
                <a:cs typeface="Times New Roman" panose="02020603050405020304" pitchFamily="18" charset="0"/>
              </a:rPr>
              <a:t>• Tools: SQL, Python, Power BI</a:t>
            </a:r>
          </a:p>
          <a:p>
            <a:endParaRPr lang="en-IN" dirty="0"/>
          </a:p>
        </p:txBody>
      </p:sp>
      <p:pic>
        <p:nvPicPr>
          <p:cNvPr id="4" name="Picture 3">
            <a:extLst>
              <a:ext uri="{FF2B5EF4-FFF2-40B4-BE49-F238E27FC236}">
                <a16:creationId xmlns:a16="http://schemas.microsoft.com/office/drawing/2014/main" id="{84CDFAEE-2F62-823D-F102-37B290A26F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0937" y="2877015"/>
            <a:ext cx="5685262" cy="2345402"/>
          </a:xfrm>
          <a:prstGeom prst="rect">
            <a:avLst/>
          </a:prstGeom>
        </p:spPr>
      </p:pic>
    </p:spTree>
    <p:extLst>
      <p:ext uri="{BB962C8B-B14F-4D97-AF65-F5344CB8AC3E}">
        <p14:creationId xmlns:p14="http://schemas.microsoft.com/office/powerpoint/2010/main" val="1598802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A9F34-6C03-BA42-FCC1-992BCD2C8EF4}"/>
              </a:ext>
            </a:extLst>
          </p:cNvPr>
          <p:cNvSpPr>
            <a:spLocks noGrp="1"/>
          </p:cNvSpPr>
          <p:nvPr>
            <p:ph type="title"/>
          </p:nvPr>
        </p:nvSpPr>
        <p:spPr>
          <a:xfrm>
            <a:off x="685801" y="609602"/>
            <a:ext cx="10131427" cy="2191656"/>
          </a:xfrm>
        </p:spPr>
        <p:txBody>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EC97E8E-2CC7-3FA9-D765-8E0753E06502}"/>
              </a:ext>
            </a:extLst>
          </p:cNvPr>
          <p:cNvSpPr>
            <a:spLocks noGrp="1"/>
          </p:cNvSpPr>
          <p:nvPr>
            <p:ph type="body" idx="1"/>
          </p:nvPr>
        </p:nvSpPr>
        <p:spPr>
          <a:xfrm>
            <a:off x="685800" y="1538514"/>
            <a:ext cx="10131428" cy="3120572"/>
          </a:xfrm>
        </p:spPr>
        <p:txBody>
          <a:bodyPr/>
          <a:lstStyle/>
          <a:p>
            <a:r>
              <a:rPr lang="en-IN" dirty="0">
                <a:latin typeface="Times New Roman" panose="02020603050405020304" pitchFamily="18" charset="0"/>
                <a:cs typeface="Times New Roman" panose="02020603050405020304" pitchFamily="18" charset="0"/>
              </a:rPr>
              <a:t>Retail organizations generate large volumes of transactional and customer data on a daily basis. However, without proper analytics, this data cannot be effectively utilized for decision making. Retail analytics enables businesses to identify sales trends, understand customer purchasing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measure product performance, and optimize store operations.</a:t>
            </a:r>
          </a:p>
          <a:p>
            <a:endParaRPr lang="en-IN" dirty="0"/>
          </a:p>
        </p:txBody>
      </p:sp>
    </p:spTree>
    <p:extLst>
      <p:ext uri="{BB962C8B-B14F-4D97-AF65-F5344CB8AC3E}">
        <p14:creationId xmlns:p14="http://schemas.microsoft.com/office/powerpoint/2010/main" val="1677086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D7C17-ACF3-C9A4-FEE9-52E918746A7F}"/>
              </a:ext>
            </a:extLst>
          </p:cNvPr>
          <p:cNvSpPr>
            <a:spLocks noGrp="1"/>
          </p:cNvSpPr>
          <p:nvPr>
            <p:ph type="title"/>
          </p:nvPr>
        </p:nvSpPr>
        <p:spPr>
          <a:xfrm>
            <a:off x="685800" y="914400"/>
            <a:ext cx="6164653" cy="599607"/>
          </a:xfrm>
        </p:spPr>
        <p:txBody>
          <a:bodyPr/>
          <a:lstStyle/>
          <a:p>
            <a:r>
              <a:rPr lang="en-IN" b="1" dirty="0">
                <a:latin typeface="Times New Roman" panose="02020603050405020304" pitchFamily="18" charset="0"/>
                <a:cs typeface="Times New Roman" panose="02020603050405020304" pitchFamily="18" charset="0"/>
              </a:rPr>
              <a:t>Business Problem</a:t>
            </a:r>
          </a:p>
        </p:txBody>
      </p:sp>
      <p:sp>
        <p:nvSpPr>
          <p:cNvPr id="4" name="Text Placeholder 3">
            <a:extLst>
              <a:ext uri="{FF2B5EF4-FFF2-40B4-BE49-F238E27FC236}">
                <a16:creationId xmlns:a16="http://schemas.microsoft.com/office/drawing/2014/main" id="{D8B1321B-3E1D-1B75-7DEE-12493C0BE110}"/>
              </a:ext>
            </a:extLst>
          </p:cNvPr>
          <p:cNvSpPr>
            <a:spLocks noGrp="1"/>
          </p:cNvSpPr>
          <p:nvPr>
            <p:ph type="body" sz="half" idx="2"/>
          </p:nvPr>
        </p:nvSpPr>
        <p:spPr>
          <a:xfrm>
            <a:off x="685801" y="1723869"/>
            <a:ext cx="4408714" cy="3076731"/>
          </a:xfrm>
        </p:spPr>
        <p:txBody>
          <a:bodyPr/>
          <a:lstStyle/>
          <a:p>
            <a:r>
              <a:rPr lang="en-US" sz="2000" dirty="0">
                <a:latin typeface="Times New Roman" panose="02020603050405020304" pitchFamily="18" charset="0"/>
                <a:cs typeface="Times New Roman" panose="02020603050405020304" pitchFamily="18" charset="0"/>
              </a:rPr>
              <a:t>• No clear visibility on sales and profit</a:t>
            </a:r>
          </a:p>
          <a:p>
            <a:r>
              <a:rPr lang="en-US" sz="2000" dirty="0">
                <a:latin typeface="Times New Roman" panose="02020603050405020304" pitchFamily="18" charset="0"/>
                <a:cs typeface="Times New Roman" panose="02020603050405020304" pitchFamily="18" charset="0"/>
              </a:rPr>
              <a:t>• Hard to identify high-value customers</a:t>
            </a:r>
          </a:p>
          <a:p>
            <a:r>
              <a:rPr lang="en-US" sz="2000" dirty="0">
                <a:latin typeface="Times New Roman" panose="02020603050405020304" pitchFamily="18" charset="0"/>
                <a:cs typeface="Times New Roman" panose="02020603050405020304" pitchFamily="18" charset="0"/>
              </a:rPr>
              <a:t>• Product returns impact revenue</a:t>
            </a:r>
          </a:p>
          <a:p>
            <a:r>
              <a:rPr lang="en-US" sz="2000" dirty="0">
                <a:latin typeface="Times New Roman" panose="02020603050405020304" pitchFamily="18" charset="0"/>
                <a:cs typeface="Times New Roman" panose="02020603050405020304" pitchFamily="18" charset="0"/>
              </a:rPr>
              <a:t>• Store performance unclear</a:t>
            </a:r>
          </a:p>
          <a:p>
            <a:endParaRPr lang="en-IN" dirty="0"/>
          </a:p>
        </p:txBody>
      </p:sp>
      <p:pic>
        <p:nvPicPr>
          <p:cNvPr id="14" name="Picture Placeholder 13">
            <a:extLst>
              <a:ext uri="{FF2B5EF4-FFF2-40B4-BE49-F238E27FC236}">
                <a16:creationId xmlns:a16="http://schemas.microsoft.com/office/drawing/2014/main" id="{5961F8F1-635C-EFF8-6A11-09E9FA5A1D3E}"/>
              </a:ext>
            </a:extLst>
          </p:cNvPr>
          <p:cNvPicPr>
            <a:picLocks noGrp="1" noChangeAspect="1"/>
          </p:cNvPicPr>
          <p:nvPr>
            <p:ph type="pic" idx="1"/>
          </p:nvPr>
        </p:nvPicPr>
        <p:blipFill>
          <a:blip r:embed="rId2"/>
          <a:srcRect l="29067" r="29067"/>
          <a:stretch>
            <a:fillRect/>
          </a:stretch>
        </p:blipFill>
        <p:spPr>
          <a:xfrm>
            <a:off x="5183724" y="1214203"/>
            <a:ext cx="6164653" cy="3762531"/>
          </a:xfrm>
          <a:prstGeom prst="roundRect">
            <a:avLst>
              <a:gd name="adj" fmla="val 4280"/>
            </a:avLst>
          </a:prstGeom>
          <a:ln w="50800" cap="sq" cmpd="dbl">
            <a:gradFill flip="none" rotWithShape="1">
              <a:gsLst>
                <a:gs pos="0">
                  <a:srgbClr val="FFFFFF"/>
                </a:gs>
                <a:gs pos="100000">
                  <a:prstClr val="white">
                    <a:alpha val="0"/>
                  </a:prst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164678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4C9DD-DAA9-7015-CA92-1B063F4B464A}"/>
              </a:ext>
            </a:extLst>
          </p:cNvPr>
          <p:cNvSpPr>
            <a:spLocks noGrp="1"/>
          </p:cNvSpPr>
          <p:nvPr>
            <p:ph type="title"/>
          </p:nvPr>
        </p:nvSpPr>
        <p:spPr>
          <a:xfrm>
            <a:off x="685800" y="344774"/>
            <a:ext cx="10131427" cy="860401"/>
          </a:xfrm>
        </p:spPr>
        <p:txBody>
          <a:bodyPr>
            <a:normAutofit/>
          </a:bodyPr>
          <a:lstStyle/>
          <a:p>
            <a:r>
              <a:rPr lang="en-IN" sz="3200" b="1" dirty="0">
                <a:latin typeface="Times New Roman" panose="02020603050405020304" pitchFamily="18" charset="0"/>
                <a:cs typeface="Times New Roman" panose="02020603050405020304" pitchFamily="18" charset="0"/>
              </a:rPr>
              <a:t>Project Objectives</a:t>
            </a:r>
          </a:p>
        </p:txBody>
      </p:sp>
      <p:sp>
        <p:nvSpPr>
          <p:cNvPr id="3" name="Text Placeholder 2">
            <a:extLst>
              <a:ext uri="{FF2B5EF4-FFF2-40B4-BE49-F238E27FC236}">
                <a16:creationId xmlns:a16="http://schemas.microsoft.com/office/drawing/2014/main" id="{53740CD0-6460-060E-8DB9-1A5B4267469B}"/>
              </a:ext>
            </a:extLst>
          </p:cNvPr>
          <p:cNvSpPr>
            <a:spLocks noGrp="1"/>
          </p:cNvSpPr>
          <p:nvPr>
            <p:ph type="body" idx="1"/>
          </p:nvPr>
        </p:nvSpPr>
        <p:spPr>
          <a:xfrm>
            <a:off x="685799" y="1484026"/>
            <a:ext cx="5580090" cy="4153755"/>
          </a:xfrm>
        </p:spPr>
        <p:txBody>
          <a:bodyPr>
            <a:normAutofit/>
          </a:bodyPr>
          <a:lstStyle/>
          <a:p>
            <a:r>
              <a:rPr lang="en-US" dirty="0">
                <a:latin typeface="Times New Roman" panose="02020603050405020304" pitchFamily="18" charset="0"/>
                <a:cs typeface="Times New Roman" panose="02020603050405020304" pitchFamily="18" charset="0"/>
              </a:rPr>
              <a:t>• Analyze revenue and quantity</a:t>
            </a:r>
          </a:p>
          <a:p>
            <a:r>
              <a:rPr lang="en-US" dirty="0">
                <a:latin typeface="Times New Roman" panose="02020603050405020304" pitchFamily="18" charset="0"/>
                <a:cs typeface="Times New Roman" panose="02020603050405020304" pitchFamily="18" charset="0"/>
              </a:rPr>
              <a:t>• Identify top products &amp; customers</a:t>
            </a:r>
          </a:p>
          <a:p>
            <a:r>
              <a:rPr lang="en-US" dirty="0">
                <a:latin typeface="Times New Roman" panose="02020603050405020304" pitchFamily="18" charset="0"/>
                <a:cs typeface="Times New Roman" panose="02020603050405020304" pitchFamily="18" charset="0"/>
              </a:rPr>
              <a:t>• Understand customer behavior</a:t>
            </a:r>
          </a:p>
          <a:p>
            <a:r>
              <a:rPr lang="en-US" dirty="0">
                <a:latin typeface="Times New Roman" panose="02020603050405020304" pitchFamily="18" charset="0"/>
                <a:cs typeface="Times New Roman" panose="02020603050405020304" pitchFamily="18" charset="0"/>
              </a:rPr>
              <a:t>• Evaluate store performance</a:t>
            </a:r>
          </a:p>
          <a:p>
            <a:r>
              <a:rPr lang="en-US" dirty="0">
                <a:latin typeface="Times New Roman" panose="02020603050405020304" pitchFamily="18" charset="0"/>
                <a:cs typeface="Times New Roman" panose="02020603050405020304" pitchFamily="18" charset="0"/>
              </a:rPr>
              <a:t>• Analyze returns</a:t>
            </a:r>
          </a:p>
          <a:p>
            <a:endParaRPr lang="en-IN" dirty="0"/>
          </a:p>
        </p:txBody>
      </p:sp>
      <p:pic>
        <p:nvPicPr>
          <p:cNvPr id="1028" name="Picture 4">
            <a:extLst>
              <a:ext uri="{FF2B5EF4-FFF2-40B4-BE49-F238E27FC236}">
                <a16:creationId xmlns:a16="http://schemas.microsoft.com/office/drawing/2014/main" id="{77159EED-CB27-1DDC-251C-699A5534A4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7401" y="1388401"/>
            <a:ext cx="5407701" cy="3605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0638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1EC30-E045-5B90-4B0C-7A42684E3279}"/>
              </a:ext>
            </a:extLst>
          </p:cNvPr>
          <p:cNvSpPr>
            <a:spLocks noGrp="1"/>
          </p:cNvSpPr>
          <p:nvPr>
            <p:ph type="title"/>
          </p:nvPr>
        </p:nvSpPr>
        <p:spPr>
          <a:xfrm>
            <a:off x="685801" y="609602"/>
            <a:ext cx="10131427" cy="1279160"/>
          </a:xfrm>
        </p:spPr>
        <p:txBody>
          <a:bodyPr/>
          <a:lstStyle/>
          <a:p>
            <a:r>
              <a:rPr lang="en-IN" b="1" dirty="0">
                <a:latin typeface="Times New Roman" panose="02020603050405020304" pitchFamily="18" charset="0"/>
                <a:cs typeface="Times New Roman" panose="02020603050405020304" pitchFamily="18" charset="0"/>
              </a:rPr>
              <a:t>Methodology: </a:t>
            </a:r>
            <a:br>
              <a:rPr lang="en-IN" dirty="0"/>
            </a:br>
            <a:r>
              <a:rPr lang="en-IN" b="1" dirty="0">
                <a:latin typeface="Times New Roman" panose="02020603050405020304" pitchFamily="18" charset="0"/>
                <a:cs typeface="Times New Roman" panose="02020603050405020304" pitchFamily="18" charset="0"/>
              </a:rPr>
              <a:t>Data collection and understanding </a:t>
            </a:r>
          </a:p>
        </p:txBody>
      </p:sp>
      <p:sp>
        <p:nvSpPr>
          <p:cNvPr id="3" name="Text Placeholder 2">
            <a:extLst>
              <a:ext uri="{FF2B5EF4-FFF2-40B4-BE49-F238E27FC236}">
                <a16:creationId xmlns:a16="http://schemas.microsoft.com/office/drawing/2014/main" id="{6F4F2209-CDE4-7C9B-C3F8-91F423001957}"/>
              </a:ext>
            </a:extLst>
          </p:cNvPr>
          <p:cNvSpPr>
            <a:spLocks noGrp="1"/>
          </p:cNvSpPr>
          <p:nvPr>
            <p:ph type="body" idx="1"/>
          </p:nvPr>
        </p:nvSpPr>
        <p:spPr>
          <a:xfrm>
            <a:off x="685800" y="1693889"/>
            <a:ext cx="3661348" cy="2938072"/>
          </a:xfrm>
        </p:spPr>
        <p:txBody>
          <a:bodyPr>
            <a:normAutofit/>
          </a:bodyPr>
          <a:lstStyle/>
          <a:p>
            <a:r>
              <a:rPr lang="en-US" dirty="0">
                <a:latin typeface="Times New Roman" panose="02020603050405020304" pitchFamily="18" charset="0"/>
                <a:cs typeface="Times New Roman" panose="02020603050405020304" pitchFamily="18" charset="0"/>
              </a:rPr>
              <a:t>• Sales transactions</a:t>
            </a:r>
          </a:p>
          <a:p>
            <a:r>
              <a:rPr lang="en-US" dirty="0">
                <a:latin typeface="Times New Roman" panose="02020603050405020304" pitchFamily="18" charset="0"/>
                <a:cs typeface="Times New Roman" panose="02020603050405020304" pitchFamily="18" charset="0"/>
              </a:rPr>
              <a:t>• Customer demographics</a:t>
            </a:r>
          </a:p>
          <a:p>
            <a:r>
              <a:rPr lang="en-US" dirty="0">
                <a:latin typeface="Times New Roman" panose="02020603050405020304" pitchFamily="18" charset="0"/>
                <a:cs typeface="Times New Roman" panose="02020603050405020304" pitchFamily="18" charset="0"/>
              </a:rPr>
              <a:t>• Product cost and category</a:t>
            </a:r>
          </a:p>
          <a:p>
            <a:r>
              <a:rPr lang="en-US" dirty="0">
                <a:latin typeface="Times New Roman" panose="02020603050405020304" pitchFamily="18" charset="0"/>
                <a:cs typeface="Times New Roman" panose="02020603050405020304" pitchFamily="18" charset="0"/>
              </a:rPr>
              <a:t>• Store details &amp; operating cost</a:t>
            </a:r>
          </a:p>
          <a:p>
            <a:r>
              <a:rPr lang="en-US" dirty="0">
                <a:latin typeface="Times New Roman" panose="02020603050405020304" pitchFamily="18" charset="0"/>
                <a:cs typeface="Times New Roman" panose="02020603050405020304" pitchFamily="18" charset="0"/>
              </a:rPr>
              <a:t>• Returns data</a:t>
            </a:r>
          </a:p>
          <a:p>
            <a:endParaRPr lang="en-IN" dirty="0"/>
          </a:p>
        </p:txBody>
      </p:sp>
      <p:pic>
        <p:nvPicPr>
          <p:cNvPr id="7" name="Picture 6">
            <a:extLst>
              <a:ext uri="{FF2B5EF4-FFF2-40B4-BE49-F238E27FC236}">
                <a16:creationId xmlns:a16="http://schemas.microsoft.com/office/drawing/2014/main" id="{B9195BB2-2360-238E-9894-D76C0F4BF561}"/>
              </a:ext>
            </a:extLst>
          </p:cNvPr>
          <p:cNvPicPr>
            <a:picLocks noChangeAspect="1"/>
          </p:cNvPicPr>
          <p:nvPr/>
        </p:nvPicPr>
        <p:blipFill>
          <a:blip r:embed="rId2"/>
          <a:stretch>
            <a:fillRect/>
          </a:stretch>
        </p:blipFill>
        <p:spPr>
          <a:xfrm>
            <a:off x="4283528" y="2220686"/>
            <a:ext cx="6955971" cy="3367314"/>
          </a:xfrm>
          <a:prstGeom prst="rect">
            <a:avLst/>
          </a:prstGeom>
        </p:spPr>
      </p:pic>
    </p:spTree>
    <p:extLst>
      <p:ext uri="{BB962C8B-B14F-4D97-AF65-F5344CB8AC3E}">
        <p14:creationId xmlns:p14="http://schemas.microsoft.com/office/powerpoint/2010/main" val="3794550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82234-5F62-7965-20F4-87E45248508A}"/>
              </a:ext>
            </a:extLst>
          </p:cNvPr>
          <p:cNvSpPr>
            <a:spLocks noGrp="1"/>
          </p:cNvSpPr>
          <p:nvPr>
            <p:ph type="title"/>
          </p:nvPr>
        </p:nvSpPr>
        <p:spPr>
          <a:xfrm>
            <a:off x="685801" y="609602"/>
            <a:ext cx="10131427" cy="1447800"/>
          </a:xfrm>
        </p:spPr>
        <p:txBody>
          <a:bodyPr/>
          <a:lstStyle/>
          <a:p>
            <a:r>
              <a:rPr lang="en-IN" b="1" dirty="0">
                <a:latin typeface="Times New Roman" panose="02020603050405020304" pitchFamily="18" charset="0"/>
                <a:cs typeface="Times New Roman" panose="02020603050405020304" pitchFamily="18" charset="0"/>
              </a:rPr>
              <a:t>DATA CLEANING &amp; PREPARATION </a:t>
            </a:r>
            <a:br>
              <a:rPr lang="en-IN" dirty="0"/>
            </a:br>
            <a:endParaRPr lang="en-IN" dirty="0"/>
          </a:p>
        </p:txBody>
      </p:sp>
      <p:sp>
        <p:nvSpPr>
          <p:cNvPr id="3" name="Text Placeholder 2">
            <a:extLst>
              <a:ext uri="{FF2B5EF4-FFF2-40B4-BE49-F238E27FC236}">
                <a16:creationId xmlns:a16="http://schemas.microsoft.com/office/drawing/2014/main" id="{9ECB9725-BFF5-6C06-4099-58D6B2E05E89}"/>
              </a:ext>
            </a:extLst>
          </p:cNvPr>
          <p:cNvSpPr>
            <a:spLocks noGrp="1"/>
          </p:cNvSpPr>
          <p:nvPr>
            <p:ph type="body" idx="1"/>
          </p:nvPr>
        </p:nvSpPr>
        <p:spPr>
          <a:xfrm>
            <a:off x="685800" y="290286"/>
            <a:ext cx="5410200" cy="5500914"/>
          </a:xfrm>
        </p:spPr>
        <p:txBody>
          <a:bodyPr>
            <a:normAutofit/>
          </a:bodyPr>
          <a:lstStyle/>
          <a:p>
            <a:r>
              <a:rPr lang="en-US" dirty="0">
                <a:latin typeface="Times New Roman" panose="02020603050405020304" pitchFamily="18" charset="0"/>
                <a:cs typeface="Times New Roman" panose="02020603050405020304" pitchFamily="18" charset="0"/>
              </a:rPr>
              <a:t>• Loaded datasets using pandas</a:t>
            </a:r>
          </a:p>
          <a:p>
            <a:r>
              <a:rPr lang="en-US" dirty="0">
                <a:latin typeface="Times New Roman" panose="02020603050405020304" pitchFamily="18" charset="0"/>
                <a:cs typeface="Times New Roman" panose="02020603050405020304" pitchFamily="18" charset="0"/>
              </a:rPr>
              <a:t>• Validated data &amp; null values</a:t>
            </a:r>
          </a:p>
          <a:p>
            <a:r>
              <a:rPr lang="en-US" dirty="0">
                <a:latin typeface="Times New Roman" panose="02020603050405020304" pitchFamily="18" charset="0"/>
                <a:cs typeface="Times New Roman" panose="02020603050405020304" pitchFamily="18" charset="0"/>
              </a:rPr>
              <a:t>• Merged sales with product cost</a:t>
            </a:r>
          </a:p>
          <a:p>
            <a:r>
              <a:rPr lang="en-US" dirty="0">
                <a:latin typeface="Times New Roman" panose="02020603050405020304" pitchFamily="18" charset="0"/>
                <a:cs typeface="Times New Roman" panose="02020603050405020304" pitchFamily="18" charset="0"/>
              </a:rPr>
              <a:t>• Calculated profit per transaction</a:t>
            </a:r>
          </a:p>
          <a:p>
            <a:r>
              <a:rPr lang="en-US" dirty="0">
                <a:latin typeface="Times New Roman" panose="02020603050405020304" pitchFamily="18" charset="0"/>
                <a:cs typeface="Times New Roman" panose="02020603050405020304" pitchFamily="18" charset="0"/>
              </a:rPr>
              <a:t>Profit = Total Amount - (Cost Price × Quantity)</a:t>
            </a:r>
          </a:p>
          <a:p>
            <a:endParaRPr lang="en-IN" dirty="0"/>
          </a:p>
        </p:txBody>
      </p:sp>
      <p:pic>
        <p:nvPicPr>
          <p:cNvPr id="2056" name="Picture 8">
            <a:extLst>
              <a:ext uri="{FF2B5EF4-FFF2-40B4-BE49-F238E27FC236}">
                <a16:creationId xmlns:a16="http://schemas.microsoft.com/office/drawing/2014/main" id="{8DFC932D-1E9D-5CA8-B3C4-D72CCE919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8871" y="1705429"/>
            <a:ext cx="5227328" cy="4085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6392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E5182-8BFE-1BB4-A839-8E3C08BB4F7E}"/>
              </a:ext>
            </a:extLst>
          </p:cNvPr>
          <p:cNvSpPr>
            <a:spLocks noGrp="1"/>
          </p:cNvSpPr>
          <p:nvPr>
            <p:ph type="title"/>
          </p:nvPr>
        </p:nvSpPr>
        <p:spPr>
          <a:xfrm>
            <a:off x="685801" y="673100"/>
            <a:ext cx="10131427" cy="1193800"/>
          </a:xfrm>
        </p:spPr>
        <p:txBody>
          <a:bodyPr/>
          <a:lstStyle/>
          <a:p>
            <a:r>
              <a:rPr lang="en-IN" b="1" dirty="0">
                <a:latin typeface="Times New Roman" panose="02020603050405020304" pitchFamily="18" charset="0"/>
                <a:cs typeface="Times New Roman" panose="02020603050405020304" pitchFamily="18" charset="0"/>
              </a:rPr>
              <a:t>SQL-based analysis</a:t>
            </a:r>
          </a:p>
        </p:txBody>
      </p:sp>
      <p:sp>
        <p:nvSpPr>
          <p:cNvPr id="3" name="Text Placeholder 2">
            <a:extLst>
              <a:ext uri="{FF2B5EF4-FFF2-40B4-BE49-F238E27FC236}">
                <a16:creationId xmlns:a16="http://schemas.microsoft.com/office/drawing/2014/main" id="{2A3CDBFA-556F-39D3-F915-4EC844641A85}"/>
              </a:ext>
            </a:extLst>
          </p:cNvPr>
          <p:cNvSpPr>
            <a:spLocks noGrp="1"/>
          </p:cNvSpPr>
          <p:nvPr>
            <p:ph type="body" idx="1"/>
          </p:nvPr>
        </p:nvSpPr>
        <p:spPr>
          <a:xfrm>
            <a:off x="685800" y="1335314"/>
            <a:ext cx="4381500" cy="3193143"/>
          </a:xfrm>
        </p:spPr>
        <p:txBody>
          <a:bodyPr>
            <a:normAutofit/>
          </a:bodyPr>
          <a:lstStyle/>
          <a:p>
            <a:r>
              <a:rPr lang="en-US" dirty="0">
                <a:latin typeface="Times New Roman" panose="02020603050405020304" pitchFamily="18" charset="0"/>
                <a:cs typeface="Times New Roman" panose="02020603050405020304" pitchFamily="18" charset="0"/>
              </a:rPr>
              <a:t>• Cleaned tables</a:t>
            </a:r>
          </a:p>
          <a:p>
            <a:r>
              <a:rPr lang="en-US" dirty="0">
                <a:latin typeface="Times New Roman" panose="02020603050405020304" pitchFamily="18" charset="0"/>
                <a:cs typeface="Times New Roman" panose="02020603050405020304" pitchFamily="18" charset="0"/>
              </a:rPr>
              <a:t>• Added keys &amp; indexes</a:t>
            </a:r>
          </a:p>
          <a:p>
            <a:r>
              <a:rPr lang="en-US" dirty="0">
                <a:latin typeface="Times New Roman" panose="02020603050405020304" pitchFamily="18" charset="0"/>
                <a:cs typeface="Times New Roman" panose="02020603050405020304" pitchFamily="18" charset="0"/>
              </a:rPr>
              <a:t>• Answered 10 business questions</a:t>
            </a:r>
          </a:p>
          <a:p>
            <a:r>
              <a:rPr lang="en-US" dirty="0">
                <a:latin typeface="Times New Roman" panose="02020603050405020304" pitchFamily="18" charset="0"/>
                <a:cs typeface="Times New Roman" panose="02020603050405020304" pitchFamily="18" charset="0"/>
              </a:rPr>
              <a:t>• Revenue, profit, returns, store analysis</a:t>
            </a:r>
          </a:p>
          <a:p>
            <a:endParaRPr lang="en-IN" dirty="0"/>
          </a:p>
        </p:txBody>
      </p:sp>
      <p:pic>
        <p:nvPicPr>
          <p:cNvPr id="5" name="Picture 4">
            <a:extLst>
              <a:ext uri="{FF2B5EF4-FFF2-40B4-BE49-F238E27FC236}">
                <a16:creationId xmlns:a16="http://schemas.microsoft.com/office/drawing/2014/main" id="{9845CDDE-D792-4C6A-B965-C575D8891854}"/>
              </a:ext>
            </a:extLst>
          </p:cNvPr>
          <p:cNvPicPr>
            <a:picLocks noChangeAspect="1"/>
          </p:cNvPicPr>
          <p:nvPr/>
        </p:nvPicPr>
        <p:blipFill>
          <a:blip r:embed="rId2"/>
          <a:stretch>
            <a:fillRect/>
          </a:stretch>
        </p:blipFill>
        <p:spPr>
          <a:xfrm>
            <a:off x="5067300" y="673100"/>
            <a:ext cx="6718300" cy="5393872"/>
          </a:xfrm>
          <a:prstGeom prst="rect">
            <a:avLst/>
          </a:prstGeom>
        </p:spPr>
      </p:pic>
    </p:spTree>
    <p:extLst>
      <p:ext uri="{BB962C8B-B14F-4D97-AF65-F5344CB8AC3E}">
        <p14:creationId xmlns:p14="http://schemas.microsoft.com/office/powerpoint/2010/main" val="1712798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4FB6F-5142-F439-C945-49C720A05AD8}"/>
              </a:ext>
            </a:extLst>
          </p:cNvPr>
          <p:cNvSpPr>
            <a:spLocks noGrp="1"/>
          </p:cNvSpPr>
          <p:nvPr>
            <p:ph type="title"/>
          </p:nvPr>
        </p:nvSpPr>
        <p:spPr>
          <a:xfrm>
            <a:off x="685800" y="1003300"/>
            <a:ext cx="3680885" cy="812800"/>
          </a:xfrm>
        </p:spPr>
        <p:txBody>
          <a:bodyPr>
            <a:normAutofit/>
          </a:bodyPr>
          <a:lstStyle/>
          <a:p>
            <a:r>
              <a:rPr lang="en-US" b="1" dirty="0">
                <a:latin typeface="Times New Roman" panose="02020603050405020304" pitchFamily="18" charset="0"/>
                <a:cs typeface="Times New Roman" panose="02020603050405020304" pitchFamily="18" charset="0"/>
              </a:rPr>
              <a:t>ER_DIAGRAM</a:t>
            </a:r>
            <a:endParaRPr lang="en-IN"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F0DCE59D-344F-2CE6-B606-3AB825CAAFAC}"/>
              </a:ext>
            </a:extLst>
          </p:cNvPr>
          <p:cNvSpPr>
            <a:spLocks noGrp="1"/>
          </p:cNvSpPr>
          <p:nvPr>
            <p:ph type="body" sz="half" idx="2"/>
          </p:nvPr>
        </p:nvSpPr>
        <p:spPr>
          <a:xfrm>
            <a:off x="685800" y="1930400"/>
            <a:ext cx="3680885" cy="3344333"/>
          </a:xfrm>
        </p:spPr>
        <p:txBody>
          <a:bodyPr/>
          <a:lstStyle/>
          <a:p>
            <a:r>
              <a:rPr lang="en-IN" sz="2000" dirty="0">
                <a:latin typeface="Times New Roman" panose="02020603050405020304" pitchFamily="18" charset="0"/>
                <a:cs typeface="Times New Roman" panose="02020603050405020304" pitchFamily="18" charset="0"/>
              </a:rPr>
              <a:t>A star-schema-based relational data model was created with the sales table acting as the central fact table. Dimension tables such as customers, products, stores, and returns are connected using primary and foreign key relationships</a:t>
            </a:r>
            <a:r>
              <a:rPr lang="en-IN" dirty="0"/>
              <a:t>. </a:t>
            </a:r>
          </a:p>
        </p:txBody>
      </p:sp>
      <p:pic>
        <p:nvPicPr>
          <p:cNvPr id="10" name="Content Placeholder 9">
            <a:extLst>
              <a:ext uri="{FF2B5EF4-FFF2-40B4-BE49-F238E27FC236}">
                <a16:creationId xmlns:a16="http://schemas.microsoft.com/office/drawing/2014/main" id="{94A17D9A-E3AA-57D2-B0B1-074085BCD4DD}"/>
              </a:ext>
            </a:extLst>
          </p:cNvPr>
          <p:cNvPicPr>
            <a:picLocks noGrp="1" noChangeAspect="1"/>
          </p:cNvPicPr>
          <p:nvPr>
            <p:ph idx="1"/>
          </p:nvPr>
        </p:nvPicPr>
        <p:blipFill>
          <a:blip r:embed="rId2"/>
          <a:stretch>
            <a:fillRect/>
          </a:stretch>
        </p:blipFill>
        <p:spPr>
          <a:xfrm>
            <a:off x="5461000" y="1386748"/>
            <a:ext cx="5356225" cy="4556852"/>
          </a:xfrm>
          <a:prstGeom prst="rect">
            <a:avLst/>
          </a:prstGeom>
        </p:spPr>
      </p:pic>
    </p:spTree>
    <p:extLst>
      <p:ext uri="{BB962C8B-B14F-4D97-AF65-F5344CB8AC3E}">
        <p14:creationId xmlns:p14="http://schemas.microsoft.com/office/powerpoint/2010/main" val="3633003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78ED2-9176-6007-8694-041EFBB94FB3}"/>
              </a:ext>
            </a:extLst>
          </p:cNvPr>
          <p:cNvSpPr>
            <a:spLocks noGrp="1"/>
          </p:cNvSpPr>
          <p:nvPr>
            <p:ph type="title"/>
          </p:nvPr>
        </p:nvSpPr>
        <p:spPr>
          <a:xfrm>
            <a:off x="685800" y="1092201"/>
            <a:ext cx="4368800" cy="673099"/>
          </a:xfrm>
        </p:spPr>
        <p:txBody>
          <a:bodyPr/>
          <a:lstStyle/>
          <a:p>
            <a:r>
              <a:rPr lang="en-IN" b="1" dirty="0">
                <a:latin typeface="Times New Roman" panose="02020603050405020304" pitchFamily="18" charset="0"/>
                <a:cs typeface="Times New Roman" panose="02020603050405020304" pitchFamily="18" charset="0"/>
              </a:rPr>
              <a:t>Power BI dashboard </a:t>
            </a:r>
          </a:p>
        </p:txBody>
      </p:sp>
      <p:pic>
        <p:nvPicPr>
          <p:cNvPr id="6" name="Content Placeholder 5">
            <a:extLst>
              <a:ext uri="{FF2B5EF4-FFF2-40B4-BE49-F238E27FC236}">
                <a16:creationId xmlns:a16="http://schemas.microsoft.com/office/drawing/2014/main" id="{6293AB80-748D-2D6A-AD57-A122D1BC0DDD}"/>
              </a:ext>
            </a:extLst>
          </p:cNvPr>
          <p:cNvPicPr>
            <a:picLocks noGrp="1" noChangeAspect="1"/>
          </p:cNvPicPr>
          <p:nvPr>
            <p:ph idx="1"/>
          </p:nvPr>
        </p:nvPicPr>
        <p:blipFill>
          <a:blip r:embed="rId2"/>
          <a:stretch>
            <a:fillRect/>
          </a:stretch>
        </p:blipFill>
        <p:spPr>
          <a:xfrm>
            <a:off x="6096000" y="1585621"/>
            <a:ext cx="5410200" cy="3229557"/>
          </a:xfrm>
          <a:prstGeom prst="rect">
            <a:avLst/>
          </a:prstGeom>
        </p:spPr>
      </p:pic>
      <p:sp>
        <p:nvSpPr>
          <p:cNvPr id="4" name="Text Placeholder 3">
            <a:extLst>
              <a:ext uri="{FF2B5EF4-FFF2-40B4-BE49-F238E27FC236}">
                <a16:creationId xmlns:a16="http://schemas.microsoft.com/office/drawing/2014/main" id="{0848F421-DEF8-BAB6-2063-5201E7CEC519}"/>
              </a:ext>
            </a:extLst>
          </p:cNvPr>
          <p:cNvSpPr>
            <a:spLocks noGrp="1"/>
          </p:cNvSpPr>
          <p:nvPr>
            <p:ph type="body" sz="half" idx="2"/>
          </p:nvPr>
        </p:nvSpPr>
        <p:spPr>
          <a:xfrm>
            <a:off x="685800" y="2045176"/>
            <a:ext cx="4940300" cy="3229557"/>
          </a:xfrm>
        </p:spPr>
        <p:txBody>
          <a:bodyPr>
            <a:normAutofit fontScale="92500" lnSpcReduction="10000"/>
          </a:bodyPr>
          <a:lstStyle/>
          <a:p>
            <a:r>
              <a:rPr lang="en-US" sz="2200" b="1" dirty="0">
                <a:latin typeface="Times New Roman" panose="02020603050405020304" pitchFamily="18" charset="0"/>
                <a:cs typeface="Times New Roman" panose="02020603050405020304" pitchFamily="18" charset="0"/>
              </a:rPr>
              <a:t>SALES OVERVIEW DASHBOARD</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Sales Performance Insights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Sales show clear seasonal trends with certain months performing significantly better.</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small set of products contributes a large share of total sales.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Online and in-store channels show different performance patterns.</a:t>
            </a: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5432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9BD66-957D-E71C-A4D6-F98B8B1A970B}"/>
              </a:ext>
            </a:extLst>
          </p:cNvPr>
          <p:cNvSpPr>
            <a:spLocks noGrp="1"/>
          </p:cNvSpPr>
          <p:nvPr>
            <p:ph type="title"/>
          </p:nvPr>
        </p:nvSpPr>
        <p:spPr>
          <a:xfrm>
            <a:off x="482600" y="1295401"/>
            <a:ext cx="4724400" cy="952500"/>
          </a:xfrm>
        </p:spPr>
        <p:txBody>
          <a:bodyPr>
            <a:normAutofit fontScale="90000"/>
          </a:bodyPr>
          <a:lstStyle/>
          <a:p>
            <a:r>
              <a:rPr lang="en-IN" sz="2200" b="1" dirty="0">
                <a:latin typeface="Times New Roman" panose="02020603050405020304" pitchFamily="18" charset="0"/>
                <a:cs typeface="Times New Roman" panose="02020603050405020304" pitchFamily="18" charset="0"/>
              </a:rPr>
              <a:t>CUSTOMER INSIGHTS DASHBOARD</a:t>
            </a:r>
            <a:br>
              <a:rPr lang="en-IN" dirty="0"/>
            </a:br>
            <a:endParaRPr lang="en-IN" dirty="0"/>
          </a:p>
        </p:txBody>
      </p:sp>
      <p:pic>
        <p:nvPicPr>
          <p:cNvPr id="6" name="Content Placeholder 5">
            <a:extLst>
              <a:ext uri="{FF2B5EF4-FFF2-40B4-BE49-F238E27FC236}">
                <a16:creationId xmlns:a16="http://schemas.microsoft.com/office/drawing/2014/main" id="{CDA7C24D-3B22-7590-A22B-A90B2D159BBA}"/>
              </a:ext>
            </a:extLst>
          </p:cNvPr>
          <p:cNvPicPr>
            <a:picLocks noGrp="1" noChangeAspect="1"/>
          </p:cNvPicPr>
          <p:nvPr>
            <p:ph idx="1"/>
          </p:nvPr>
        </p:nvPicPr>
        <p:blipFill>
          <a:blip r:embed="rId2"/>
          <a:stretch>
            <a:fillRect/>
          </a:stretch>
        </p:blipFill>
        <p:spPr>
          <a:xfrm>
            <a:off x="5549900" y="1682756"/>
            <a:ext cx="5267325" cy="3035287"/>
          </a:xfrm>
          <a:prstGeom prst="rect">
            <a:avLst/>
          </a:prstGeom>
        </p:spPr>
      </p:pic>
      <p:sp>
        <p:nvSpPr>
          <p:cNvPr id="4" name="Text Placeholder 3">
            <a:extLst>
              <a:ext uri="{FF2B5EF4-FFF2-40B4-BE49-F238E27FC236}">
                <a16:creationId xmlns:a16="http://schemas.microsoft.com/office/drawing/2014/main" id="{8A30A675-9F8A-786E-4DDB-4CD1C6AB7DCD}"/>
              </a:ext>
            </a:extLst>
          </p:cNvPr>
          <p:cNvSpPr>
            <a:spLocks noGrp="1"/>
          </p:cNvSpPr>
          <p:nvPr>
            <p:ph type="body" sz="half" idx="2"/>
          </p:nvPr>
        </p:nvSpPr>
        <p:spPr>
          <a:xfrm>
            <a:off x="685800" y="2133600"/>
            <a:ext cx="3680885" cy="3141133"/>
          </a:xfrm>
        </p:spPr>
        <p:txBody>
          <a:bodyPr>
            <a:normAutofit fontScale="92500" lnSpcReduction="20000"/>
          </a:bodyPr>
          <a:lstStyle/>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customer Insights</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Customers from specific regions contribute more to revenue.</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Certain age groups generate higher average revenue than others.</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small number of customers contribute disproportionately to total profit.</a:t>
            </a:r>
          </a:p>
          <a:p>
            <a:endParaRPr lang="en-IN" dirty="0"/>
          </a:p>
        </p:txBody>
      </p:sp>
    </p:spTree>
    <p:extLst>
      <p:ext uri="{BB962C8B-B14F-4D97-AF65-F5344CB8AC3E}">
        <p14:creationId xmlns:p14="http://schemas.microsoft.com/office/powerpoint/2010/main" val="878617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B2006-8FFE-9936-DEBF-DF58AFE8E241}"/>
              </a:ext>
            </a:extLst>
          </p:cNvPr>
          <p:cNvSpPr>
            <a:spLocks noGrp="1"/>
          </p:cNvSpPr>
          <p:nvPr>
            <p:ph type="title"/>
          </p:nvPr>
        </p:nvSpPr>
        <p:spPr>
          <a:xfrm>
            <a:off x="685800" y="1270001"/>
            <a:ext cx="4241800" cy="1384300"/>
          </a:xfrm>
        </p:spPr>
        <p:txBody>
          <a:bodyPr>
            <a:normAutofit fontScale="90000"/>
          </a:bodyPr>
          <a:lstStyle/>
          <a:p>
            <a:r>
              <a:rPr lang="en-IN" sz="2200" b="1" dirty="0">
                <a:latin typeface="Times New Roman" panose="02020603050405020304" pitchFamily="18" charset="0"/>
                <a:cs typeface="Times New Roman" panose="02020603050405020304" pitchFamily="18" charset="0"/>
              </a:rPr>
              <a:t>PRODUCT PERFORMANCE DASHBOARD</a:t>
            </a:r>
            <a:br>
              <a:rPr lang="en-IN" dirty="0"/>
            </a:br>
            <a:r>
              <a:rPr lang="en-IN" b="1" dirty="0"/>
              <a:t> </a:t>
            </a:r>
            <a:br>
              <a:rPr lang="en-IN" dirty="0"/>
            </a:br>
            <a:endParaRPr lang="en-IN" dirty="0"/>
          </a:p>
        </p:txBody>
      </p:sp>
      <p:pic>
        <p:nvPicPr>
          <p:cNvPr id="6" name="Content Placeholder 5">
            <a:extLst>
              <a:ext uri="{FF2B5EF4-FFF2-40B4-BE49-F238E27FC236}">
                <a16:creationId xmlns:a16="http://schemas.microsoft.com/office/drawing/2014/main" id="{86B74C62-0A80-51F2-0B4E-D28037069014}"/>
              </a:ext>
            </a:extLst>
          </p:cNvPr>
          <p:cNvPicPr>
            <a:picLocks noGrp="1" noChangeAspect="1"/>
          </p:cNvPicPr>
          <p:nvPr>
            <p:ph idx="1"/>
          </p:nvPr>
        </p:nvPicPr>
        <p:blipFill>
          <a:blip r:embed="rId2"/>
          <a:stretch>
            <a:fillRect/>
          </a:stretch>
        </p:blipFill>
        <p:spPr>
          <a:xfrm>
            <a:off x="5245100" y="1750740"/>
            <a:ext cx="5829300" cy="3138759"/>
          </a:xfrm>
          <a:prstGeom prst="rect">
            <a:avLst/>
          </a:prstGeom>
        </p:spPr>
      </p:pic>
      <p:sp>
        <p:nvSpPr>
          <p:cNvPr id="4" name="Text Placeholder 3">
            <a:extLst>
              <a:ext uri="{FF2B5EF4-FFF2-40B4-BE49-F238E27FC236}">
                <a16:creationId xmlns:a16="http://schemas.microsoft.com/office/drawing/2014/main" id="{91A45982-4E44-BE18-0A02-0497DCF0C707}"/>
              </a:ext>
            </a:extLst>
          </p:cNvPr>
          <p:cNvSpPr>
            <a:spLocks noGrp="1"/>
          </p:cNvSpPr>
          <p:nvPr>
            <p:ph type="body" sz="half" idx="2"/>
          </p:nvPr>
        </p:nvSpPr>
        <p:spPr>
          <a:xfrm>
            <a:off x="685800" y="2311400"/>
            <a:ext cx="3680885" cy="2963333"/>
          </a:xfrm>
        </p:spPr>
        <p:txBody>
          <a:bodyPr>
            <a:normAutofit fontScale="92500" lnSpcReduction="10000"/>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Product Performance Insights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product categories are consistently more profitable than others.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few products have high sales volume but lower profitability due to returns or discounts.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Return rates are concentrated in specific product categories.</a:t>
            </a:r>
          </a:p>
          <a:p>
            <a:endParaRPr lang="en-IN" dirty="0"/>
          </a:p>
        </p:txBody>
      </p:sp>
    </p:spTree>
    <p:extLst>
      <p:ext uri="{BB962C8B-B14F-4D97-AF65-F5344CB8AC3E}">
        <p14:creationId xmlns:p14="http://schemas.microsoft.com/office/powerpoint/2010/main" val="2720985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D335F-A9D3-FE09-63EA-803CB3E94073}"/>
              </a:ext>
            </a:extLst>
          </p:cNvPr>
          <p:cNvSpPr>
            <a:spLocks noGrp="1"/>
          </p:cNvSpPr>
          <p:nvPr>
            <p:ph type="title"/>
          </p:nvPr>
        </p:nvSpPr>
        <p:spPr>
          <a:xfrm>
            <a:off x="685800" y="1282390"/>
            <a:ext cx="4365702" cy="869795"/>
          </a:xfrm>
        </p:spPr>
        <p:txBody>
          <a:bodyPr/>
          <a:lstStyle/>
          <a:p>
            <a:r>
              <a:rPr lang="en-IN" sz="2000" b="1" dirty="0">
                <a:latin typeface="Times New Roman" panose="02020603050405020304" pitchFamily="18" charset="0"/>
                <a:cs typeface="Times New Roman" panose="02020603050405020304" pitchFamily="18" charset="0"/>
              </a:rPr>
              <a:t>STORE ANALYSIS DASHBOARD</a:t>
            </a:r>
            <a:br>
              <a:rPr lang="en-IN" dirty="0"/>
            </a:br>
            <a:endParaRPr lang="en-IN" dirty="0"/>
          </a:p>
        </p:txBody>
      </p:sp>
      <p:pic>
        <p:nvPicPr>
          <p:cNvPr id="6" name="Content Placeholder 5">
            <a:extLst>
              <a:ext uri="{FF2B5EF4-FFF2-40B4-BE49-F238E27FC236}">
                <a16:creationId xmlns:a16="http://schemas.microsoft.com/office/drawing/2014/main" id="{D38F6D6D-55DD-86D0-971D-CB6EEE431177}"/>
              </a:ext>
            </a:extLst>
          </p:cNvPr>
          <p:cNvPicPr>
            <a:picLocks noGrp="1" noChangeAspect="1"/>
          </p:cNvPicPr>
          <p:nvPr>
            <p:ph idx="1"/>
          </p:nvPr>
        </p:nvPicPr>
        <p:blipFill>
          <a:blip r:embed="rId2"/>
          <a:stretch>
            <a:fillRect/>
          </a:stretch>
        </p:blipFill>
        <p:spPr>
          <a:xfrm>
            <a:off x="5441950" y="1895706"/>
            <a:ext cx="5375275" cy="2988528"/>
          </a:xfrm>
          <a:prstGeom prst="rect">
            <a:avLst/>
          </a:prstGeom>
        </p:spPr>
      </p:pic>
      <p:sp>
        <p:nvSpPr>
          <p:cNvPr id="4" name="Text Placeholder 3">
            <a:extLst>
              <a:ext uri="{FF2B5EF4-FFF2-40B4-BE49-F238E27FC236}">
                <a16:creationId xmlns:a16="http://schemas.microsoft.com/office/drawing/2014/main" id="{C7300228-F721-4ABE-C02B-435DB5A81252}"/>
              </a:ext>
            </a:extLst>
          </p:cNvPr>
          <p:cNvSpPr>
            <a:spLocks noGrp="1"/>
          </p:cNvSpPr>
          <p:nvPr>
            <p:ph type="body" sz="half" idx="2"/>
          </p:nvPr>
        </p:nvSpPr>
        <p:spPr>
          <a:xfrm>
            <a:off x="685800" y="2152185"/>
            <a:ext cx="3680885" cy="3122548"/>
          </a:xfrm>
        </p:spPr>
        <p:txBody>
          <a:bodyPr>
            <a:norm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Store Performance Insights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Not all stores are equally profitable despite similar sales levels.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operating costs reduce profitability for some stores.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Store performance varies significantly across regions.</a:t>
            </a:r>
          </a:p>
          <a:p>
            <a:endParaRPr lang="en-IN" dirty="0"/>
          </a:p>
        </p:txBody>
      </p:sp>
    </p:spTree>
    <p:extLst>
      <p:ext uri="{BB962C8B-B14F-4D97-AF65-F5344CB8AC3E}">
        <p14:creationId xmlns:p14="http://schemas.microsoft.com/office/powerpoint/2010/main" val="3207799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5177F-3B26-BCE1-62EC-97534530D6E5}"/>
              </a:ext>
            </a:extLst>
          </p:cNvPr>
          <p:cNvSpPr>
            <a:spLocks noGrp="1"/>
          </p:cNvSpPr>
          <p:nvPr>
            <p:ph type="title"/>
          </p:nvPr>
        </p:nvSpPr>
        <p:spPr>
          <a:xfrm>
            <a:off x="685800" y="1471961"/>
            <a:ext cx="4432610" cy="880946"/>
          </a:xfrm>
        </p:spPr>
        <p:txBody>
          <a:bodyPr/>
          <a:lstStyle/>
          <a:p>
            <a:r>
              <a:rPr lang="en-IN" sz="2000" b="1" dirty="0">
                <a:latin typeface="Times New Roman" panose="02020603050405020304" pitchFamily="18" charset="0"/>
                <a:cs typeface="Times New Roman" panose="02020603050405020304" pitchFamily="18" charset="0"/>
              </a:rPr>
              <a:t>RETURN ANALYSIS DASHBOARD</a:t>
            </a:r>
            <a:br>
              <a:rPr lang="en-IN" dirty="0"/>
            </a:br>
            <a:endParaRPr lang="en-IN" dirty="0"/>
          </a:p>
        </p:txBody>
      </p:sp>
      <p:pic>
        <p:nvPicPr>
          <p:cNvPr id="6" name="Content Placeholder 5">
            <a:extLst>
              <a:ext uri="{FF2B5EF4-FFF2-40B4-BE49-F238E27FC236}">
                <a16:creationId xmlns:a16="http://schemas.microsoft.com/office/drawing/2014/main" id="{8D9F3332-932D-CC0A-A071-78B4C6EF42C3}"/>
              </a:ext>
            </a:extLst>
          </p:cNvPr>
          <p:cNvPicPr>
            <a:picLocks noGrp="1" noChangeAspect="1"/>
          </p:cNvPicPr>
          <p:nvPr>
            <p:ph idx="1"/>
          </p:nvPr>
        </p:nvPicPr>
        <p:blipFill>
          <a:blip r:embed="rId2"/>
          <a:stretch>
            <a:fillRect/>
          </a:stretch>
        </p:blipFill>
        <p:spPr>
          <a:xfrm>
            <a:off x="5464175" y="2018371"/>
            <a:ext cx="5353050" cy="3088888"/>
          </a:xfrm>
          <a:prstGeom prst="rect">
            <a:avLst/>
          </a:prstGeom>
        </p:spPr>
      </p:pic>
      <p:sp>
        <p:nvSpPr>
          <p:cNvPr id="4" name="Text Placeholder 3">
            <a:extLst>
              <a:ext uri="{FF2B5EF4-FFF2-40B4-BE49-F238E27FC236}">
                <a16:creationId xmlns:a16="http://schemas.microsoft.com/office/drawing/2014/main" id="{085D1635-B3E7-834B-3BC0-BC642F0E3CF8}"/>
              </a:ext>
            </a:extLst>
          </p:cNvPr>
          <p:cNvSpPr>
            <a:spLocks noGrp="1"/>
          </p:cNvSpPr>
          <p:nvPr>
            <p:ph type="body" sz="half" idx="2"/>
          </p:nvPr>
        </p:nvSpPr>
        <p:spPr>
          <a:xfrm>
            <a:off x="685800" y="2352907"/>
            <a:ext cx="3680885" cy="2921826"/>
          </a:xfrm>
        </p:spPr>
        <p:txBody>
          <a:bodyPr>
            <a:normAutofit/>
          </a:bodyPr>
          <a:lstStyle/>
          <a:p>
            <a:r>
              <a:rPr lang="en-US" sz="2000" dirty="0">
                <a:latin typeface="Times New Roman" panose="02020603050405020304" pitchFamily="18" charset="0"/>
                <a:cs typeface="Times New Roman" panose="02020603050405020304" pitchFamily="18" charset="0"/>
              </a:rPr>
              <a:t>Return Analysis Insights</a:t>
            </a:r>
          </a:p>
          <a:p>
            <a:r>
              <a:rPr lang="en-US" sz="2000" dirty="0">
                <a:latin typeface="Times New Roman" panose="02020603050405020304" pitchFamily="18" charset="0"/>
                <a:cs typeface="Times New Roman" panose="02020603050405020304" pitchFamily="18" charset="0"/>
              </a:rPr>
              <a:t>Return rates have increased over time in specific categories.</a:t>
            </a:r>
          </a:p>
          <a:p>
            <a:r>
              <a:rPr lang="en-US" sz="2000" dirty="0">
                <a:latin typeface="Times New Roman" panose="02020603050405020304" pitchFamily="18" charset="0"/>
                <a:cs typeface="Times New Roman" panose="02020603050405020304" pitchFamily="18" charset="0"/>
              </a:rPr>
              <a:t>Certain products and regions account for most returns.</a:t>
            </a:r>
          </a:p>
          <a:p>
            <a:r>
              <a:rPr lang="en-US" sz="2000" dirty="0">
                <a:latin typeface="Times New Roman" panose="02020603050405020304" pitchFamily="18" charset="0"/>
                <a:cs typeface="Times New Roman" panose="02020603050405020304" pitchFamily="18" charset="0"/>
              </a:rPr>
              <a:t>High return rates negatively impact overall profitability</a:t>
            </a:r>
          </a:p>
          <a:p>
            <a:endParaRPr lang="en-IN" dirty="0"/>
          </a:p>
        </p:txBody>
      </p:sp>
    </p:spTree>
    <p:extLst>
      <p:ext uri="{BB962C8B-B14F-4D97-AF65-F5344CB8AC3E}">
        <p14:creationId xmlns:p14="http://schemas.microsoft.com/office/powerpoint/2010/main" val="923289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606BE-7420-0573-E2A1-F677B1BE7D69}"/>
              </a:ext>
            </a:extLst>
          </p:cNvPr>
          <p:cNvSpPr>
            <a:spLocks noGrp="1"/>
          </p:cNvSpPr>
          <p:nvPr>
            <p:ph type="title"/>
          </p:nvPr>
        </p:nvSpPr>
        <p:spPr>
          <a:xfrm>
            <a:off x="685801" y="869796"/>
            <a:ext cx="4711389" cy="1940311"/>
          </a:xfrm>
        </p:spPr>
        <p:txBody>
          <a:bodyPr>
            <a:normAutofit/>
          </a:bodyPr>
          <a:lstStyle/>
          <a:p>
            <a:r>
              <a:rPr lang="en-IN" b="1" dirty="0">
                <a:latin typeface="Times New Roman" panose="02020603050405020304" pitchFamily="18" charset="0"/>
                <a:cs typeface="Times New Roman" panose="02020603050405020304" pitchFamily="18" charset="0"/>
              </a:rPr>
              <a:t>Key Business Insights</a:t>
            </a:r>
            <a:br>
              <a:rPr lang="en-IN" b="1"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 Few customers/products generate most profit</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 Operating cost impacts stores</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 Some categories have high returns</a:t>
            </a:r>
            <a:br>
              <a:rPr lang="en-US"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4EB010B-E72B-59E9-B379-BFD5DA3CE3E4}"/>
              </a:ext>
            </a:extLst>
          </p:cNvPr>
          <p:cNvSpPr>
            <a:spLocks noGrp="1"/>
          </p:cNvSpPr>
          <p:nvPr>
            <p:ph type="body" idx="1"/>
          </p:nvPr>
        </p:nvSpPr>
        <p:spPr>
          <a:xfrm>
            <a:off x="685799" y="2486722"/>
            <a:ext cx="10331605" cy="3211551"/>
          </a:xfrm>
        </p:spPr>
        <p:txBody>
          <a:bodyPr/>
          <a:lstStyle/>
          <a:p>
            <a:r>
              <a:rPr lang="en-IN" b="1" dirty="0">
                <a:latin typeface="Times New Roman" panose="02020603050405020304" pitchFamily="18" charset="0"/>
                <a:cs typeface="Times New Roman" panose="02020603050405020304" pitchFamily="18" charset="0"/>
              </a:rPr>
              <a:t>CONCLUSION</a:t>
            </a:r>
          </a:p>
          <a:p>
            <a:r>
              <a:rPr lang="en-IN" sz="1700" dirty="0">
                <a:latin typeface="Times New Roman" panose="02020603050405020304" pitchFamily="18" charset="0"/>
                <a:cs typeface="Times New Roman" panose="02020603050405020304" pitchFamily="18" charset="0"/>
              </a:rPr>
              <a:t>This Retail Sales Analytics project demonstrates a complete end-to-end analytics workflow using SQL, Python, and Power BI. By integrating data cleaning, analysis, and visualization, the project delivers actionable insights that support data-driven decision-making. The dashboards provide a clear, interactive, and professional view of retail performance, making this project suitable for real-world business applications</a:t>
            </a:r>
            <a:r>
              <a:rPr lang="en-IN"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128910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2A718-30BD-EC41-4E31-C33A1E6C87C2}"/>
              </a:ext>
            </a:extLst>
          </p:cNvPr>
          <p:cNvSpPr>
            <a:spLocks noGrp="1"/>
          </p:cNvSpPr>
          <p:nvPr>
            <p:ph type="title"/>
          </p:nvPr>
        </p:nvSpPr>
        <p:spPr>
          <a:xfrm>
            <a:off x="3735659" y="1338146"/>
            <a:ext cx="4884233" cy="3624146"/>
          </a:xfrm>
        </p:spPr>
        <p:txBody>
          <a:bodyPr>
            <a:normAutofit/>
          </a:bodyPr>
          <a:lstStyle/>
          <a:p>
            <a:r>
              <a:rPr lang="en-US" sz="4000" b="1" dirty="0">
                <a:latin typeface="Times New Roman" panose="02020603050405020304" pitchFamily="18" charset="0"/>
                <a:cs typeface="Times New Roman" panose="02020603050405020304" pitchFamily="18" charset="0"/>
              </a:rPr>
              <a:t>THANK YOU!</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04815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Damask</Template>
  <TotalTime>149</TotalTime>
  <Words>673</Words>
  <Application>Microsoft Office PowerPoint</Application>
  <PresentationFormat>Widescreen</PresentationFormat>
  <Paragraphs>73</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Celestial</vt:lpstr>
      <vt:lpstr>End-to-End Retail Performance and Behavioral Analytics </vt:lpstr>
      <vt:lpstr>Abstract: </vt:lpstr>
      <vt:lpstr>Project Overview</vt:lpstr>
      <vt:lpstr>INTRODUCTION</vt:lpstr>
      <vt:lpstr>Business Problem</vt:lpstr>
      <vt:lpstr>Project Objectives</vt:lpstr>
      <vt:lpstr>Methodology:  Data collection and understanding </vt:lpstr>
      <vt:lpstr>DATA CLEANING &amp; PREPARATION  </vt:lpstr>
      <vt:lpstr>SQL-based analysis</vt:lpstr>
      <vt:lpstr>ER_DIAGRAM</vt:lpstr>
      <vt:lpstr>Power BI dashboard </vt:lpstr>
      <vt:lpstr>CUSTOMER INSIGHTS DASHBOARD </vt:lpstr>
      <vt:lpstr>PRODUCT PERFORMANCE DASHBOARD   </vt:lpstr>
      <vt:lpstr>STORE ANALYSIS DASHBOARD </vt:lpstr>
      <vt:lpstr>RETURN ANALYSIS DASHBOARD </vt:lpstr>
      <vt:lpstr>Key Business Insights • Few customers/products generate most profit • Operating cost impacts stores • Some categories have high returns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Pranithreddy Kasireddy</dc:creator>
  <cp:lastModifiedBy>Pranithreddy Kasireddy</cp:lastModifiedBy>
  <cp:revision>1</cp:revision>
  <dcterms:created xsi:type="dcterms:W3CDTF">2026-03-03T07:40:36Z</dcterms:created>
  <dcterms:modified xsi:type="dcterms:W3CDTF">2026-03-03T10:10:20Z</dcterms:modified>
</cp:coreProperties>
</file>